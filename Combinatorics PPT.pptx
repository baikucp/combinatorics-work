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86" r:id="rId6"/>
    <p:sldId id="291" r:id="rId7"/>
    <p:sldId id="292" r:id="rId8"/>
    <p:sldId id="293" r:id="rId9"/>
    <p:sldId id="294" r:id="rId10"/>
    <p:sldId id="298" r:id="rId11"/>
    <p:sldId id="295" r:id="rId12"/>
    <p:sldId id="296" r:id="rId13"/>
    <p:sldId id="297" r:id="rId14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12" autoAdjust="0"/>
    <p:restoredTop sz="88634" autoAdjust="0"/>
  </p:normalViewPr>
  <p:slideViewPr>
    <p:cSldViewPr snapToGrid="0" showGuides="1">
      <p:cViewPr varScale="1">
        <p:scale>
          <a:sx n="58" d="100"/>
          <a:sy n="58" d="100"/>
        </p:scale>
        <p:origin x="534" y="42"/>
      </p:cViewPr>
      <p:guideLst>
        <p:guide orient="horz" pos="21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945" y="1000760"/>
            <a:ext cx="5520055" cy="5005705"/>
          </a:xfrm>
          <a:prstGeom prst="rect">
            <a:avLst/>
          </a:prstGeom>
        </p:spPr>
      </p:pic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157" y="505961"/>
            <a:ext cx="2676077" cy="8474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5945" y="24142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solidFill>
                  <a:schemeClr val="accent5">
                    <a:lumMod val="50000"/>
                  </a:schemeClr>
                </a:solidFill>
              </a:rPr>
              <a:t>智能驾驶员状态监控系统</a:t>
            </a:r>
            <a:endParaRPr lang="zh-CN" altLang="en-US" sz="36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910" y="3312160"/>
            <a:ext cx="6096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核心方法、数据处理与功能模块概览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30" y="805815"/>
            <a:ext cx="9800590" cy="3622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70025" y="4712335"/>
            <a:ext cx="20237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捕捉并分析驾驶员的面部特征，计算关键生物指标。</a:t>
            </a:r>
            <a:endParaRPr lang="zh-CN" altLang="en-US" sz="1600">
              <a:solidFill>
                <a:schemeClr val="accent5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21735" y="4712335"/>
            <a:ext cx="21520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识别疲劳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(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如长时间闭眼、哈欠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)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和分心行为，并进行分级预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警。</a:t>
            </a:r>
            <a:endParaRPr lang="zh-CN" altLang="en-US" sz="1600">
              <a:solidFill>
                <a:schemeClr val="accent5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9340" y="4712335"/>
            <a:ext cx="21520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持久化所有关键运行数据，为后续分析和模型迭代提供支持。</a:t>
            </a:r>
            <a:endParaRPr lang="zh-CN" altLang="en-US" sz="1600">
              <a:solidFill>
                <a:schemeClr val="accent5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71205" y="4712335"/>
            <a:ext cx="21520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sym typeface="+mn-ea"/>
              </a:rPr>
              <a:t>提供接口，支持集成机器学习模型，实现更精准的风险判断。</a:t>
            </a:r>
            <a:endParaRPr lang="zh-CN" altLang="en-US" sz="1600">
              <a:solidFill>
                <a:schemeClr val="accent5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399415"/>
            <a:ext cx="10719435" cy="49142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24330" y="5554980"/>
            <a:ext cx="9144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系统采用高内聚、低耦合的模块化设计，确保了开发效率、可维护性与未来扩展性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" y="2589530"/>
            <a:ext cx="5420360" cy="26600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75" y="450215"/>
            <a:ext cx="5871210" cy="15113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97855" y="1961515"/>
            <a:ext cx="6096000" cy="906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核心功能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tx1"/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从摄像头或本地视频文件获取实时图像帧。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tx1"/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检测人脸并精确定位</a:t>
            </a:r>
            <a:r>
              <a:rPr lang="en-US" altLang="zh-CN" sz="1700">
                <a:solidFill>
                  <a:schemeClr val="tx1"/>
                </a:solidFill>
              </a:rPr>
              <a:t>68</a:t>
            </a:r>
            <a:r>
              <a:rPr lang="zh-CN" altLang="en-US" sz="1700">
                <a:solidFill>
                  <a:schemeClr val="tx1"/>
                </a:solidFill>
              </a:rPr>
              <a:t>个面部特征点。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97855" y="3044190"/>
            <a:ext cx="609600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实现方法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核心库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en-US" altLang="zh-CN" sz="1700">
                <a:solidFill>
                  <a:schemeClr val="tx1"/>
                </a:solidFill>
              </a:rPr>
              <a:t>`dlib`</a:t>
            </a:r>
            <a:r>
              <a:rPr lang="zh-CN" altLang="en-US" sz="1700">
                <a:solidFill>
                  <a:schemeClr val="tx1"/>
                </a:solidFill>
              </a:rPr>
              <a:t>。用于人脸检测和特征点定位。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关键指标计算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altLang="zh-CN" sz="170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tx1"/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眼睛纵横比</a:t>
            </a:r>
            <a:r>
              <a:rPr lang="en-US" altLang="zh-CN" sz="1700">
                <a:solidFill>
                  <a:schemeClr val="tx1"/>
                </a:solidFill>
              </a:rPr>
              <a:t>(EAR-Eye Aspect Ratio):</a:t>
            </a:r>
            <a:r>
              <a:rPr lang="zh-CN" altLang="en-US" sz="1700">
                <a:solidFill>
                  <a:schemeClr val="tx1"/>
                </a:solidFill>
              </a:rPr>
              <a:t>通过计算眼部特征点的距离比值来量化眼睛的睁开程度。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tx1"/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嘴巴纵横比</a:t>
            </a:r>
            <a:r>
              <a:rPr lang="en-US" altLang="zh-CN" sz="1700">
                <a:solidFill>
                  <a:schemeClr val="tx1"/>
                </a:solidFill>
              </a:rPr>
              <a:t>(MAR-Mouth Aspect Ratio):</a:t>
            </a:r>
            <a:r>
              <a:rPr lang="zh-CN" altLang="en-US" sz="1700">
                <a:solidFill>
                  <a:schemeClr val="tx1"/>
                </a:solidFill>
              </a:rPr>
              <a:t>通过计算嘴部特征点的距离比值来量化嘴巴的张开程度。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97855" y="4987925"/>
            <a:ext cx="6096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处理数据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输入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zh-CN" altLang="en-US" sz="1700">
                <a:solidFill>
                  <a:schemeClr val="tx1"/>
                </a:solidFill>
              </a:rPr>
              <a:t>实时视频流</a:t>
            </a:r>
            <a:r>
              <a:rPr lang="en-US" altLang="zh-CN" sz="1700">
                <a:solidFill>
                  <a:schemeClr val="tx1"/>
                </a:solidFill>
              </a:rPr>
              <a:t>(Camera)</a:t>
            </a:r>
            <a:r>
              <a:rPr lang="zh-CN" altLang="en-US" sz="1700">
                <a:solidFill>
                  <a:schemeClr val="tx1"/>
                </a:solidFill>
              </a:rPr>
              <a:t>或</a:t>
            </a:r>
            <a:r>
              <a:rPr lang="en-US" altLang="zh-CN" sz="1700">
                <a:solidFill>
                  <a:schemeClr val="tx1"/>
                </a:solidFill>
              </a:rPr>
              <a:t> </a:t>
            </a:r>
            <a:r>
              <a:rPr lang="zh-CN" altLang="en-US" sz="1700">
                <a:solidFill>
                  <a:schemeClr val="tx1"/>
                </a:solidFill>
              </a:rPr>
              <a:t>视频文件</a:t>
            </a:r>
            <a:r>
              <a:rPr lang="en-US" altLang="zh-CN" sz="1700">
                <a:solidFill>
                  <a:schemeClr val="tx1"/>
                </a:solidFill>
              </a:rPr>
              <a:t>(Video File)</a:t>
            </a:r>
            <a:endParaRPr lang="en-US" altLang="zh-CN" sz="1700">
              <a:solidFill>
                <a:schemeClr val="tx1"/>
              </a:solidFill>
            </a:endParaRPr>
          </a:p>
          <a:p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输出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zh-CN" altLang="en-US" sz="1700">
                <a:solidFill>
                  <a:schemeClr val="tx1"/>
                </a:solidFill>
              </a:rPr>
              <a:t>包含</a:t>
            </a:r>
            <a:r>
              <a:rPr lang="en-US" altLang="zh-CN" sz="1700">
                <a:solidFill>
                  <a:schemeClr val="tx1"/>
                </a:solidFill>
              </a:rPr>
              <a:t>EAR</a:t>
            </a:r>
            <a:r>
              <a:rPr lang="zh-CN" altLang="en-US" sz="1700">
                <a:solidFill>
                  <a:schemeClr val="tx1"/>
                </a:solidFill>
              </a:rPr>
              <a:t>、</a:t>
            </a:r>
            <a:r>
              <a:rPr lang="en-US" altLang="zh-CN" sz="1700">
                <a:solidFill>
                  <a:schemeClr val="tx1"/>
                </a:solidFill>
              </a:rPr>
              <a:t>MAR</a:t>
            </a:r>
            <a:r>
              <a:rPr lang="zh-CN" altLang="en-US" sz="1700">
                <a:solidFill>
                  <a:schemeClr val="tx1"/>
                </a:solidFill>
              </a:rPr>
              <a:t>、时间戳和原始图像帧的数据结构，传递给逻辑判断模块。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00580" y="2795270"/>
            <a:ext cx="130619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主</a:t>
            </a:r>
            <a:r>
              <a:rPr lang="zh-CN" altLang="en-US" sz="900"/>
              <a:t>程序</a:t>
            </a:r>
            <a:r>
              <a:rPr lang="en-US" altLang="zh-CN" sz="900"/>
              <a:t>/</a:t>
            </a:r>
            <a:r>
              <a:rPr lang="zh-CN" altLang="en-US" sz="900"/>
              <a:t>用户界面</a:t>
            </a:r>
            <a:r>
              <a:rPr lang="en-US" altLang="zh-CN" sz="900"/>
              <a:t>(MainGUl.py)]</a:t>
            </a:r>
            <a:endParaRPr lang="zh-CN" altLang="en-US" sz="900"/>
          </a:p>
        </p:txBody>
      </p:sp>
      <p:sp>
        <p:nvSpPr>
          <p:cNvPr id="10" name="文本框 9"/>
          <p:cNvSpPr txBox="1"/>
          <p:nvPr/>
        </p:nvSpPr>
        <p:spPr>
          <a:xfrm>
            <a:off x="4453890" y="3815080"/>
            <a:ext cx="80454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日志文件</a:t>
            </a:r>
            <a:r>
              <a:rPr lang="en-US" altLang="zh-CN" sz="900"/>
              <a:t>(log.t</a:t>
            </a:r>
            <a:r>
              <a:rPr lang="en-US" altLang="zh-CN" sz="900"/>
              <a:t>xt)]</a:t>
            </a:r>
            <a:endParaRPr lang="zh-CN" altLang="en-US" sz="900"/>
          </a:p>
        </p:txBody>
      </p:sp>
      <p:sp>
        <p:nvSpPr>
          <p:cNvPr id="11" name="文本框 10"/>
          <p:cNvSpPr txBox="1"/>
          <p:nvPr/>
        </p:nvSpPr>
        <p:spPr>
          <a:xfrm>
            <a:off x="329692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数据记录模块</a:t>
            </a:r>
            <a:r>
              <a:rPr lang="en-US" altLang="zh-CN" sz="900"/>
              <a:t>Data_recorder.</a:t>
            </a:r>
            <a:r>
              <a:rPr lang="en-US" altLang="zh-CN" sz="900"/>
              <a:t>py]</a:t>
            </a:r>
            <a:endParaRPr lang="zh-CN" altLang="en-US" sz="900"/>
          </a:p>
        </p:txBody>
      </p:sp>
      <p:sp>
        <p:nvSpPr>
          <p:cNvPr id="12" name="文本框 11"/>
          <p:cNvSpPr txBox="1"/>
          <p:nvPr/>
        </p:nvSpPr>
        <p:spPr>
          <a:xfrm>
            <a:off x="1149350" y="3754120"/>
            <a:ext cx="951230" cy="57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/>
              <a:t>[</a:t>
            </a:r>
            <a:r>
              <a:rPr lang="zh-CN" altLang="en-US" sz="900" b="1"/>
              <a:t>数据收集模块</a:t>
            </a:r>
            <a:r>
              <a:rPr lang="en-US" altLang="zh-CN" sz="900" b="1"/>
              <a:t>Data_collection.py]</a:t>
            </a:r>
            <a:endParaRPr lang="zh-CN" altLang="en-US" sz="900" b="1"/>
          </a:p>
        </p:txBody>
      </p:sp>
      <p:sp>
        <p:nvSpPr>
          <p:cNvPr id="13" name="文本框 12"/>
          <p:cNvSpPr txBox="1"/>
          <p:nvPr/>
        </p:nvSpPr>
        <p:spPr>
          <a:xfrm>
            <a:off x="224409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逻辑判断模块</a:t>
            </a:r>
            <a:r>
              <a:rPr lang="en-US" altLang="zh-CN" sz="900"/>
              <a:t>Logic_judge.py</a:t>
            </a:r>
            <a:r>
              <a:rPr lang="en-US" altLang="zh-CN" sz="900"/>
              <a:t>]</a:t>
            </a:r>
            <a:endParaRPr lang="zh-CN" altLang="en-US" sz="900"/>
          </a:p>
        </p:txBody>
      </p:sp>
      <p:sp>
        <p:nvSpPr>
          <p:cNvPr id="14" name="文本框 13"/>
          <p:cNvSpPr txBox="1"/>
          <p:nvPr/>
        </p:nvSpPr>
        <p:spPr>
          <a:xfrm>
            <a:off x="133985" y="381508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数据源</a:t>
            </a:r>
            <a:endParaRPr lang="zh-CN" altLang="en-US" sz="900"/>
          </a:p>
          <a:p>
            <a:r>
              <a:rPr lang="zh-CN" altLang="en-US" sz="900"/>
              <a:t>摄像头</a:t>
            </a:r>
            <a:r>
              <a:rPr lang="en-US" altLang="zh-CN" sz="900"/>
              <a:t>/</a:t>
            </a:r>
            <a:r>
              <a:rPr lang="zh-CN" altLang="en-US" sz="900"/>
              <a:t>视频</a:t>
            </a:r>
            <a:r>
              <a:rPr lang="en-US" altLang="zh-CN" sz="900"/>
              <a:t>]</a:t>
            </a:r>
            <a:endParaRPr lang="zh-CN" altLang="en-US" sz="900"/>
          </a:p>
        </p:txBody>
      </p:sp>
      <p:sp>
        <p:nvSpPr>
          <p:cNvPr id="16" name="文本框 15"/>
          <p:cNvSpPr txBox="1"/>
          <p:nvPr/>
        </p:nvSpPr>
        <p:spPr>
          <a:xfrm>
            <a:off x="3296920" y="45415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机器学习扩展模块</a:t>
            </a:r>
            <a:r>
              <a:rPr lang="en-US" altLang="zh-CN" sz="900"/>
              <a:t>(Extend.py-]</a:t>
            </a:r>
            <a:endParaRPr lang="en-US" altLang="zh-CN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025" y="535305"/>
            <a:ext cx="4914265" cy="1234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2589530"/>
            <a:ext cx="5420360" cy="266001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1025" y="18694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核心功能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分析面部特征数据，实时判断是否存在疲劳或分心驾驶行为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。</a:t>
            </a:r>
            <a:endParaRPr lang="zh-CN" altLang="en-US" sz="17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1025" y="2726690"/>
            <a:ext cx="6096000" cy="186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实现方法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规则引擎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zh-CN" altLang="en-US" sz="1700">
                <a:solidFill>
                  <a:schemeClr val="tx1"/>
                </a:solidFill>
              </a:rPr>
              <a:t>基于预设的闻值和持续时间进行判断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眨服检测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en-US" altLang="zh-CN" sz="1700">
                <a:solidFill>
                  <a:schemeClr val="tx1"/>
                </a:solidFill>
              </a:rPr>
              <a:t>EAR</a:t>
            </a:r>
            <a:r>
              <a:rPr lang="zh-CN" altLang="en-US" sz="1700">
                <a:solidFill>
                  <a:schemeClr val="tx1"/>
                </a:solidFill>
              </a:rPr>
              <a:t>值低于闯值</a:t>
            </a:r>
            <a:r>
              <a:rPr lang="en-US" altLang="zh-CN" sz="1700">
                <a:solidFill>
                  <a:schemeClr val="tx1"/>
                </a:solidFill>
              </a:rPr>
              <a:t>(ear_threshold=0.2)</a:t>
            </a:r>
            <a:r>
              <a:rPr lang="zh-CN" altLang="en-US" sz="1700">
                <a:solidFill>
                  <a:schemeClr val="tx1"/>
                </a:solidFill>
              </a:rPr>
              <a:t>持续若若干帧</a:t>
            </a:r>
            <a:r>
              <a:rPr lang="en-US" altLang="zh-CN" sz="1700">
                <a:solidFill>
                  <a:schemeClr val="tx1"/>
                </a:solidFill>
              </a:rPr>
              <a:t>(blink_consecutive_frames=3)</a:t>
            </a:r>
            <a:endParaRPr lang="en-US" altLang="zh-CN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</a:rPr>
              <a:t>哈欠检测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en-US" altLang="zh-CN" sz="1700">
                <a:solidFill>
                  <a:schemeClr val="tx1"/>
                </a:solidFill>
              </a:rPr>
              <a:t>MAR</a:t>
            </a:r>
            <a:r>
              <a:rPr lang="zh-CN" altLang="en-US" sz="1700">
                <a:solidFill>
                  <a:schemeClr val="tx1"/>
                </a:solidFill>
              </a:rPr>
              <a:t>值高于值</a:t>
            </a:r>
            <a:r>
              <a:rPr lang="en-US" altLang="zh-CN" sz="1700">
                <a:solidFill>
                  <a:schemeClr val="tx1"/>
                </a:solidFill>
              </a:rPr>
              <a:t>(mar_threshold=0.5)</a:t>
            </a:r>
            <a:r>
              <a:rPr lang="zh-CN" altLang="en-US" sz="1700">
                <a:solidFill>
                  <a:schemeClr val="tx1"/>
                </a:solidFill>
              </a:rPr>
              <a:t>持续一段时间</a:t>
            </a:r>
            <a:r>
              <a:rPr lang="en-US" altLang="zh-CN" sz="1700">
                <a:solidFill>
                  <a:schemeClr val="tx1"/>
                </a:solidFill>
              </a:rPr>
              <a:t>(yawn_min_duration=1.0</a:t>
            </a:r>
            <a:r>
              <a:rPr lang="zh-CN" altLang="en-US" sz="1700">
                <a:solidFill>
                  <a:schemeClr val="tx1"/>
                </a:solidFill>
              </a:rPr>
              <a:t>秒</a:t>
            </a:r>
            <a:r>
              <a:rPr lang="en-US" altLang="zh-CN" sz="1700">
                <a:solidFill>
                  <a:schemeClr val="tx1"/>
                </a:solidFill>
              </a:rPr>
              <a:t>)</a:t>
            </a:r>
            <a:endParaRPr lang="en-US" altLang="zh-CN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  <a:sym typeface="+mn-ea"/>
              </a:rPr>
              <a:t>  </a:t>
            </a:r>
            <a:r>
              <a:rPr lang="zh-CN" altLang="en-US" sz="1700">
                <a:solidFill>
                  <a:schemeClr val="accent5">
                    <a:lumMod val="50000"/>
                  </a:schemeClr>
                </a:solidFill>
                <a:sym typeface="+mn-ea"/>
              </a:rPr>
              <a:t>频率分析</a:t>
            </a:r>
            <a:r>
              <a:rPr lang="en-US" altLang="zh-CN" sz="1700">
                <a:solidFill>
                  <a:schemeClr val="accent5">
                    <a:lumMod val="50000"/>
                  </a:schemeClr>
                </a:solidFill>
                <a:sym typeface="+mn-ea"/>
              </a:rPr>
              <a:t>:</a:t>
            </a:r>
            <a:r>
              <a:rPr lang="zh-CN" altLang="en-US" sz="1700">
                <a:solidFill>
                  <a:schemeClr val="tx1"/>
                </a:solidFill>
                <a:sym typeface="+mn-ea"/>
              </a:rPr>
              <a:t>缓存并统计近</a:t>
            </a:r>
            <a:r>
              <a:rPr lang="en-US" altLang="zh-CN" sz="1700">
                <a:solidFill>
                  <a:schemeClr val="tx1"/>
                </a:solidFill>
                <a:sym typeface="+mn-ea"/>
              </a:rPr>
              <a:t> 5</a:t>
            </a:r>
            <a:r>
              <a:rPr lang="zh-CN" altLang="en-US" sz="1700">
                <a:solidFill>
                  <a:schemeClr val="tx1"/>
                </a:solidFill>
                <a:sym typeface="+mn-ea"/>
              </a:rPr>
              <a:t>分钟内的行为频率，以评估整体疲劳状态。</a:t>
            </a:r>
            <a:endParaRPr lang="en-US" altLang="zh-CN" sz="1700">
              <a:solidFill>
                <a:schemeClr val="tx1"/>
              </a:solidFill>
            </a:endParaRPr>
          </a:p>
          <a:p>
            <a:endParaRPr lang="en-US" altLang="zh-CN" sz="17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61025" y="5097145"/>
            <a:ext cx="6096000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风险评估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输出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-</a:t>
            </a:r>
            <a:r>
              <a:rPr lang="zh-CN" altLang="en-US" sz="1700">
                <a:solidFill>
                  <a:schemeClr val="tx1"/>
                </a:solidFill>
              </a:rPr>
              <a:t>根据行为频率，将风险等级划分为</a:t>
            </a:r>
            <a:r>
              <a:rPr lang="en-US" altLang="zh-CN" sz="1700">
                <a:solidFill>
                  <a:schemeClr val="tx1"/>
                </a:solidFill>
              </a:rPr>
              <a:t>:</a:t>
            </a:r>
            <a:r>
              <a:rPr lang="zh-CN" altLang="en-US" sz="1700">
                <a:solidFill>
                  <a:schemeClr val="tx1"/>
                </a:solidFill>
              </a:rPr>
              <a:t>正常</a:t>
            </a:r>
            <a:r>
              <a:rPr lang="en-US" altLang="zh-CN" sz="1700">
                <a:solidFill>
                  <a:schemeClr val="tx1"/>
                </a:solidFill>
              </a:rPr>
              <a:t>(NORMAL)</a:t>
            </a:r>
            <a:r>
              <a:rPr lang="zh-CN" altLang="en-US" sz="1700">
                <a:solidFill>
                  <a:schemeClr val="tx1"/>
                </a:solidFill>
              </a:rPr>
              <a:t>，低风险</a:t>
            </a:r>
            <a:r>
              <a:rPr lang="en-US" altLang="zh-CN" sz="1700">
                <a:solidFill>
                  <a:schemeClr val="tx1"/>
                </a:solidFill>
              </a:rPr>
              <a:t>(LOW)</a:t>
            </a:r>
            <a:r>
              <a:rPr lang="zh-CN" altLang="en-US" sz="1700">
                <a:solidFill>
                  <a:schemeClr val="tx1"/>
                </a:solidFill>
              </a:rPr>
              <a:t>，中风险</a:t>
            </a:r>
            <a:r>
              <a:rPr lang="en-US" altLang="zh-CN" sz="1700">
                <a:solidFill>
                  <a:schemeClr val="tx1"/>
                </a:solidFill>
              </a:rPr>
              <a:t>(MEDIUM)</a:t>
            </a:r>
            <a:r>
              <a:rPr lang="zh-CN" altLang="en-US" sz="1700">
                <a:solidFill>
                  <a:schemeClr val="tx1"/>
                </a:solidFill>
              </a:rPr>
              <a:t>，高风险</a:t>
            </a:r>
            <a:r>
              <a:rPr lang="en-US" altLang="zh-CN" sz="1700">
                <a:solidFill>
                  <a:schemeClr val="tx1"/>
                </a:solidFill>
              </a:rPr>
              <a:t>(HIGH)</a:t>
            </a:r>
            <a:endParaRPr lang="en-US" altLang="zh-CN" sz="17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00580" y="2795270"/>
            <a:ext cx="130619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主</a:t>
            </a:r>
            <a:r>
              <a:rPr lang="zh-CN" altLang="en-US" sz="900"/>
              <a:t>程序</a:t>
            </a:r>
            <a:r>
              <a:rPr lang="en-US" altLang="zh-CN" sz="900"/>
              <a:t>/</a:t>
            </a:r>
            <a:r>
              <a:rPr lang="zh-CN" altLang="en-US" sz="900"/>
              <a:t>用户界面</a:t>
            </a:r>
            <a:r>
              <a:rPr lang="en-US" altLang="zh-CN" sz="900"/>
              <a:t>(MainGUl.py)]</a:t>
            </a:r>
            <a:endParaRPr lang="zh-CN" altLang="en-US" sz="900"/>
          </a:p>
        </p:txBody>
      </p:sp>
      <p:sp>
        <p:nvSpPr>
          <p:cNvPr id="10" name="文本框 9"/>
          <p:cNvSpPr txBox="1"/>
          <p:nvPr/>
        </p:nvSpPr>
        <p:spPr>
          <a:xfrm>
            <a:off x="4453890" y="3815080"/>
            <a:ext cx="80454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日志文件</a:t>
            </a:r>
            <a:r>
              <a:rPr lang="en-US" altLang="zh-CN" sz="900"/>
              <a:t>(log.t</a:t>
            </a:r>
            <a:r>
              <a:rPr lang="en-US" altLang="zh-CN" sz="900"/>
              <a:t>xt)]</a:t>
            </a:r>
            <a:endParaRPr lang="zh-CN" altLang="en-US" sz="900"/>
          </a:p>
        </p:txBody>
      </p:sp>
      <p:sp>
        <p:nvSpPr>
          <p:cNvPr id="11" name="文本框 10"/>
          <p:cNvSpPr txBox="1"/>
          <p:nvPr/>
        </p:nvSpPr>
        <p:spPr>
          <a:xfrm>
            <a:off x="329692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数据记录模块</a:t>
            </a:r>
            <a:r>
              <a:rPr lang="en-US" altLang="zh-CN" sz="900"/>
              <a:t>Data_recorder.</a:t>
            </a:r>
            <a:r>
              <a:rPr lang="en-US" altLang="zh-CN" sz="900"/>
              <a:t>py]</a:t>
            </a:r>
            <a:endParaRPr lang="zh-CN" altLang="en-US" sz="900"/>
          </a:p>
        </p:txBody>
      </p:sp>
      <p:sp>
        <p:nvSpPr>
          <p:cNvPr id="12" name="文本框 11"/>
          <p:cNvSpPr txBox="1"/>
          <p:nvPr/>
        </p:nvSpPr>
        <p:spPr>
          <a:xfrm>
            <a:off x="1149350" y="3754120"/>
            <a:ext cx="951230" cy="57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数据收集模块</a:t>
            </a:r>
            <a:r>
              <a:rPr lang="en-US" altLang="zh-CN" sz="900"/>
              <a:t>Data_collection.py]</a:t>
            </a:r>
            <a:endParaRPr lang="zh-CN" altLang="en-US" sz="900"/>
          </a:p>
        </p:txBody>
      </p:sp>
      <p:sp>
        <p:nvSpPr>
          <p:cNvPr id="13" name="文本框 12"/>
          <p:cNvSpPr txBox="1"/>
          <p:nvPr/>
        </p:nvSpPr>
        <p:spPr>
          <a:xfrm>
            <a:off x="224409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/>
              <a:t>[</a:t>
            </a:r>
            <a:r>
              <a:rPr lang="zh-CN" altLang="en-US" sz="900" b="1"/>
              <a:t>逻辑判断模块</a:t>
            </a:r>
            <a:r>
              <a:rPr lang="en-US" altLang="zh-CN" sz="900" b="1"/>
              <a:t>Logic_judge.py]</a:t>
            </a:r>
            <a:endParaRPr lang="zh-CN" altLang="en-US" sz="900" b="1"/>
          </a:p>
        </p:txBody>
      </p:sp>
      <p:sp>
        <p:nvSpPr>
          <p:cNvPr id="14" name="文本框 13"/>
          <p:cNvSpPr txBox="1"/>
          <p:nvPr/>
        </p:nvSpPr>
        <p:spPr>
          <a:xfrm>
            <a:off x="133985" y="381508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数据源</a:t>
            </a:r>
            <a:endParaRPr lang="zh-CN" altLang="en-US" sz="900"/>
          </a:p>
          <a:p>
            <a:r>
              <a:rPr lang="zh-CN" altLang="en-US" sz="900"/>
              <a:t>摄像头</a:t>
            </a:r>
            <a:r>
              <a:rPr lang="en-US" altLang="zh-CN" sz="900"/>
              <a:t>/</a:t>
            </a:r>
            <a:r>
              <a:rPr lang="zh-CN" altLang="en-US" sz="900"/>
              <a:t>视频</a:t>
            </a:r>
            <a:r>
              <a:rPr lang="en-US" altLang="zh-CN" sz="900"/>
              <a:t>]</a:t>
            </a:r>
            <a:endParaRPr lang="zh-CN" altLang="en-US" sz="900"/>
          </a:p>
        </p:txBody>
      </p:sp>
      <p:sp>
        <p:nvSpPr>
          <p:cNvPr id="16" name="文本框 15"/>
          <p:cNvSpPr txBox="1"/>
          <p:nvPr/>
        </p:nvSpPr>
        <p:spPr>
          <a:xfrm>
            <a:off x="3296920" y="45415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机器学习扩展模块</a:t>
            </a:r>
            <a:r>
              <a:rPr lang="en-US" altLang="zh-CN" sz="900"/>
              <a:t>(Extend.py]</a:t>
            </a:r>
            <a:endParaRPr lang="en-US" altLang="zh-CN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" y="5186045"/>
            <a:ext cx="4264025" cy="10693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3528" b="3528"/>
          <a:stretch>
            <a:fillRect/>
          </a:stretch>
        </p:blipFill>
        <p:spPr>
          <a:xfrm>
            <a:off x="5661025" y="535305"/>
            <a:ext cx="4431665" cy="1020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2589530"/>
            <a:ext cx="5420360" cy="266001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1025" y="1869440"/>
            <a:ext cx="6096000" cy="906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核心功能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将系统运行过程中的关键数据持久化，以便后续进行审计、分析和模型训练。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1025" y="2894965"/>
            <a:ext cx="6096000" cy="186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“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数据库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”/</a:t>
            </a: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存储方法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不使用传统数据库，而是生成结构化的日志文件。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tx1"/>
                </a:solidFill>
              </a:rPr>
              <a:t>- </a:t>
            </a:r>
            <a:r>
              <a:rPr lang="zh-CN" altLang="en-US" sz="1700">
                <a:solidFill>
                  <a:schemeClr val="tx1"/>
                </a:solidFill>
              </a:rPr>
              <a:t>每次运行以时间戳命名创建独立的文件夹，确保数据隔离和可追溯性。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15635" y="4261485"/>
            <a:ext cx="6096000" cy="1953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数据格式与功能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 TXT: </a:t>
            </a:r>
            <a:r>
              <a:rPr lang="zh-CN" altLang="en-US" sz="1700">
                <a:solidFill>
                  <a:schemeClr val="tx1"/>
                </a:solidFill>
              </a:rPr>
              <a:t>事件时间线。人类可读的日志，按时间顺序记录眨眼、哈欠、风险等级变化等关行为事件。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-CSV: </a:t>
            </a:r>
            <a:r>
              <a:rPr lang="zh-CN" altLang="en-US" sz="1700">
                <a:solidFill>
                  <a:schemeClr val="tx1"/>
                </a:solidFill>
              </a:rPr>
              <a:t>结构化特征数据。包含每一帧的详细量化指标，是数据分析和机器学习机型训练的主要数据源。</a:t>
            </a:r>
            <a:endParaRPr lang="zh-CN" altLang="en-US" sz="1700">
              <a:solidFill>
                <a:schemeClr val="tx1"/>
              </a:solidFill>
            </a:endParaRPr>
          </a:p>
          <a:p>
            <a:r>
              <a:rPr lang="en-US" altLang="zh-CN" sz="1700">
                <a:solidFill>
                  <a:schemeClr val="accent5">
                    <a:lumMod val="50000"/>
                  </a:schemeClr>
                </a:solidFill>
              </a:rPr>
              <a:t>-JSON: </a:t>
            </a:r>
            <a:r>
              <a:rPr lang="zh-CN" altLang="en-US" sz="1700">
                <a:solidFill>
                  <a:schemeClr val="tx1"/>
                </a:solidFill>
              </a:rPr>
              <a:t>系统配置</a:t>
            </a:r>
            <a:r>
              <a:rPr lang="en-US" altLang="zh-CN" sz="1700">
                <a:solidFill>
                  <a:schemeClr val="tx1"/>
                </a:solidFill>
              </a:rPr>
              <a:t>/</a:t>
            </a:r>
            <a:r>
              <a:rPr lang="zh-CN" altLang="en-US" sz="1700">
                <a:solidFill>
                  <a:schemeClr val="tx1"/>
                </a:solidFill>
              </a:rPr>
              <a:t>事件。用于存储复杂的事件数据或系统运行配置。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00580" y="2795270"/>
            <a:ext cx="130619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主</a:t>
            </a:r>
            <a:r>
              <a:rPr lang="zh-CN" altLang="en-US" sz="900"/>
              <a:t>程序</a:t>
            </a:r>
            <a:r>
              <a:rPr lang="en-US" altLang="zh-CN" sz="900"/>
              <a:t>/</a:t>
            </a:r>
            <a:r>
              <a:rPr lang="zh-CN" altLang="en-US" sz="900"/>
              <a:t>用户界面</a:t>
            </a:r>
            <a:r>
              <a:rPr lang="en-US" altLang="zh-CN" sz="900"/>
              <a:t>(MainGUl.py)]</a:t>
            </a:r>
            <a:endParaRPr lang="zh-CN" altLang="en-US" sz="900"/>
          </a:p>
        </p:txBody>
      </p:sp>
      <p:sp>
        <p:nvSpPr>
          <p:cNvPr id="10" name="文本框 9"/>
          <p:cNvSpPr txBox="1"/>
          <p:nvPr/>
        </p:nvSpPr>
        <p:spPr>
          <a:xfrm>
            <a:off x="4453890" y="3815080"/>
            <a:ext cx="80454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日志文件</a:t>
            </a:r>
            <a:r>
              <a:rPr lang="en-US" altLang="zh-CN" sz="900"/>
              <a:t>(log.t</a:t>
            </a:r>
            <a:r>
              <a:rPr lang="en-US" altLang="zh-CN" sz="900"/>
              <a:t>xt)]</a:t>
            </a:r>
            <a:endParaRPr lang="zh-CN" altLang="en-US" sz="900"/>
          </a:p>
        </p:txBody>
      </p:sp>
      <p:sp>
        <p:nvSpPr>
          <p:cNvPr id="11" name="文本框 10"/>
          <p:cNvSpPr txBox="1"/>
          <p:nvPr/>
        </p:nvSpPr>
        <p:spPr>
          <a:xfrm>
            <a:off x="329692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/>
              <a:t>[</a:t>
            </a:r>
            <a:r>
              <a:rPr lang="zh-CN" altLang="en-US" sz="900" b="1"/>
              <a:t>数据记录模块</a:t>
            </a:r>
            <a:r>
              <a:rPr lang="en-US" altLang="zh-CN" sz="900" b="1"/>
              <a:t>Data_recorder.py]</a:t>
            </a:r>
            <a:endParaRPr lang="zh-CN" altLang="en-US" sz="900" b="1"/>
          </a:p>
        </p:txBody>
      </p:sp>
      <p:sp>
        <p:nvSpPr>
          <p:cNvPr id="12" name="文本框 11"/>
          <p:cNvSpPr txBox="1"/>
          <p:nvPr/>
        </p:nvSpPr>
        <p:spPr>
          <a:xfrm>
            <a:off x="1149350" y="3754120"/>
            <a:ext cx="951230" cy="57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数据收集模块</a:t>
            </a:r>
            <a:r>
              <a:rPr lang="en-US" altLang="zh-CN" sz="900"/>
              <a:t>Data_collection.py]</a:t>
            </a:r>
            <a:endParaRPr lang="zh-CN" altLang="en-US" sz="900"/>
          </a:p>
        </p:txBody>
      </p:sp>
      <p:sp>
        <p:nvSpPr>
          <p:cNvPr id="13" name="文本框 12"/>
          <p:cNvSpPr txBox="1"/>
          <p:nvPr/>
        </p:nvSpPr>
        <p:spPr>
          <a:xfrm>
            <a:off x="2244090" y="37541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逻辑判断模块</a:t>
            </a:r>
            <a:r>
              <a:rPr lang="en-US" altLang="zh-CN" sz="900"/>
              <a:t>Logic_judge.py]</a:t>
            </a:r>
            <a:endParaRPr lang="zh-CN" altLang="en-US" sz="900"/>
          </a:p>
        </p:txBody>
      </p:sp>
      <p:sp>
        <p:nvSpPr>
          <p:cNvPr id="14" name="文本框 13"/>
          <p:cNvSpPr txBox="1"/>
          <p:nvPr/>
        </p:nvSpPr>
        <p:spPr>
          <a:xfrm>
            <a:off x="133985" y="381508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数据源</a:t>
            </a:r>
            <a:endParaRPr lang="zh-CN" altLang="en-US" sz="900"/>
          </a:p>
          <a:p>
            <a:r>
              <a:rPr lang="zh-CN" altLang="en-US" sz="900"/>
              <a:t>摄像头</a:t>
            </a:r>
            <a:r>
              <a:rPr lang="en-US" altLang="zh-CN" sz="900"/>
              <a:t>/</a:t>
            </a:r>
            <a:r>
              <a:rPr lang="zh-CN" altLang="en-US" sz="900"/>
              <a:t>视频</a:t>
            </a:r>
            <a:r>
              <a:rPr lang="en-US" altLang="zh-CN" sz="900"/>
              <a:t>]</a:t>
            </a:r>
            <a:endParaRPr lang="zh-CN" altLang="en-US" sz="900"/>
          </a:p>
        </p:txBody>
      </p:sp>
      <p:sp>
        <p:nvSpPr>
          <p:cNvPr id="16" name="文本框 15"/>
          <p:cNvSpPr txBox="1"/>
          <p:nvPr/>
        </p:nvSpPr>
        <p:spPr>
          <a:xfrm>
            <a:off x="3296920" y="4541520"/>
            <a:ext cx="908685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/>
              <a:t>[</a:t>
            </a:r>
            <a:r>
              <a:rPr lang="zh-CN" altLang="en-US" sz="900"/>
              <a:t>机器学习扩展模块</a:t>
            </a:r>
            <a:r>
              <a:rPr lang="en-US" altLang="zh-CN" sz="900"/>
              <a:t>(Extend.py]</a:t>
            </a:r>
            <a:endParaRPr lang="en-US" altLang="zh-CN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691515"/>
            <a:ext cx="10131425" cy="5444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1058"/>
          <a:stretch>
            <a:fillRect/>
          </a:stretch>
        </p:blipFill>
        <p:spPr>
          <a:xfrm>
            <a:off x="0" y="-45720"/>
            <a:ext cx="5522595" cy="68313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733415" y="1626235"/>
            <a:ext cx="6096000" cy="5158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spcAft>
                <a:spcPts val="600"/>
              </a:spcAft>
              <a:buClrTx/>
              <a:buSzTx/>
              <a:buFontTx/>
            </a:pP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核心功能：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 sz="1700"/>
              <a:t>实时捕获摄像头画面，提取驾驶员面部的</a:t>
            </a:r>
            <a:r>
              <a:rPr lang="en-US" altLang="zh-CN" sz="1700"/>
              <a:t>128</a:t>
            </a:r>
            <a:r>
              <a:rPr lang="zh-CN" altLang="en-US" sz="1700"/>
              <a:t>维数学特征向量，并与数据库中已注册的信息进行比对，实现快速、准确的身份识别与角色管理。</a:t>
            </a:r>
            <a:endParaRPr lang="zh-CN" altLang="en-US" sz="1700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实现方法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/>
              <a:t>-</a:t>
            </a:r>
            <a:r>
              <a:rPr lang="zh-CN" altLang="en-US" sz="1700"/>
              <a:t>核心算法与预处理</a:t>
            </a:r>
            <a:r>
              <a:rPr lang="en-US" altLang="zh-CN" sz="1700"/>
              <a:t>(modules/camera.py)</a:t>
            </a:r>
            <a:endParaRPr lang="en-US" altLang="zh-CN" sz="1700"/>
          </a:p>
          <a:p>
            <a:r>
              <a:rPr lang="en-US" altLang="zh-CN" sz="1700"/>
              <a:t>-OpenCV</a:t>
            </a:r>
            <a:r>
              <a:rPr lang="zh-CN" altLang="en-US" sz="1700"/>
              <a:t>用于图像捕获和预处理</a:t>
            </a:r>
            <a:r>
              <a:rPr lang="en-US" altLang="zh-CN" sz="1700"/>
              <a:t>;</a:t>
            </a:r>
            <a:r>
              <a:rPr lang="zh-CN" altLang="en-US" sz="1700"/>
              <a:t>使用</a:t>
            </a:r>
            <a:r>
              <a:rPr lang="en-US" altLang="zh-CN" sz="1700"/>
              <a:t>facerecognition/dlib</a:t>
            </a:r>
            <a:r>
              <a:rPr lang="zh-CN" altLang="en-US" sz="1700"/>
              <a:t>库进行人脸检测和</a:t>
            </a:r>
            <a:r>
              <a:rPr lang="en-US" altLang="zh-CN" sz="1700"/>
              <a:t>128</a:t>
            </a:r>
            <a:r>
              <a:rPr lang="zh-CN" altLang="en-US" sz="1700"/>
              <a:t>维特征向量提取。</a:t>
            </a:r>
            <a:endParaRPr lang="zh-CN" altLang="en-US" sz="1700"/>
          </a:p>
          <a:p>
            <a:r>
              <a:rPr lang="en-US" altLang="zh-CN" sz="1700"/>
              <a:t>-</a:t>
            </a:r>
            <a:r>
              <a:rPr lang="zh-CN" altLang="en-US" sz="1700"/>
              <a:t>数据存储</a:t>
            </a:r>
            <a:r>
              <a:rPr lang="en-US" altLang="zh-CN" sz="1700"/>
              <a:t>(modules/database mgr.py)-</a:t>
            </a:r>
            <a:r>
              <a:rPr lang="zh-CN" altLang="en-US" sz="1700"/>
              <a:t>使用</a:t>
            </a:r>
            <a:r>
              <a:rPr lang="en-US" altLang="zh-CN" sz="1700"/>
              <a:t>SQLite</a:t>
            </a:r>
            <a:r>
              <a:rPr lang="zh-CN" altLang="en-US" sz="1700"/>
              <a:t>数据库存储用户信息，</a:t>
            </a:r>
            <a:r>
              <a:rPr lang="en-US" altLang="zh-CN" sz="1700"/>
              <a:t>'users'</a:t>
            </a:r>
            <a:r>
              <a:rPr lang="zh-CN" altLang="en-US" sz="1700"/>
              <a:t>表包含姓名</a:t>
            </a:r>
            <a:r>
              <a:rPr lang="en-US" altLang="zh-CN" sz="1700"/>
              <a:t>(name)</a:t>
            </a:r>
            <a:r>
              <a:rPr lang="zh-CN" altLang="en-US" sz="1700"/>
              <a:t>、角色</a:t>
            </a:r>
            <a:r>
              <a:rPr lang="en-US" altLang="zh-CN" sz="1700"/>
              <a:t>(role)</a:t>
            </a:r>
            <a:r>
              <a:rPr lang="zh-CN" altLang="en-US" sz="1700"/>
              <a:t>和人脸特征编码</a:t>
            </a:r>
            <a:r>
              <a:rPr lang="en-US" altLang="zh-CN" sz="1700"/>
              <a:t>(face encoding</a:t>
            </a:r>
            <a:r>
              <a:rPr lang="zh-CN" altLang="en-US" sz="1700"/>
              <a:t>，</a:t>
            </a:r>
            <a:r>
              <a:rPr lang="en-US" altLang="zh-CN" sz="1700"/>
              <a:t>BLOB</a:t>
            </a:r>
            <a:r>
              <a:rPr lang="zh-CN" altLang="en-US" sz="1700"/>
              <a:t>类型</a:t>
            </a:r>
            <a:r>
              <a:rPr lang="en-US" altLang="zh-CN" sz="1700"/>
              <a:t>)</a:t>
            </a:r>
            <a:endParaRPr lang="en-US" altLang="zh-CN" sz="1700"/>
          </a:p>
          <a:p>
            <a:pPr indent="0" fontAlgn="auto">
              <a:spcAft>
                <a:spcPts val="600"/>
              </a:spcAft>
            </a:pPr>
            <a:r>
              <a:rPr lang="en-US" altLang="zh-CN" sz="1700"/>
              <a:t>-</a:t>
            </a:r>
            <a:r>
              <a:rPr lang="zh-CN" altLang="en-US" sz="1700"/>
              <a:t>识别逻辑引擎</a:t>
            </a:r>
            <a:r>
              <a:rPr lang="en-US" altLang="zh-CN" sz="1700"/>
              <a:t>:</a:t>
            </a:r>
            <a:r>
              <a:rPr lang="zh-CN" altLang="en-US" sz="1700"/>
              <a:t>加载已知的注册人脸特征向量，利用向量间欧氏距离进行实时比对。</a:t>
            </a:r>
            <a:endParaRPr lang="zh-CN" altLang="en-US" sz="170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识别结果与注册(输出/交互)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/>
              <a:t>-</a:t>
            </a:r>
            <a:r>
              <a:rPr lang="zh-CN" altLang="en-US" sz="1700"/>
              <a:t>识别输出</a:t>
            </a:r>
            <a:r>
              <a:rPr lang="en-US" altLang="zh-CN" sz="1700"/>
              <a:t>:</a:t>
            </a:r>
            <a:r>
              <a:rPr lang="zh-CN" altLang="en-US" sz="1700"/>
              <a:t>已注册驾驶员姓名</a:t>
            </a:r>
            <a:r>
              <a:rPr lang="en-US" altLang="zh-CN" sz="1700"/>
              <a:t>/</a:t>
            </a:r>
            <a:r>
              <a:rPr lang="zh-CN" altLang="en-US" sz="1700"/>
              <a:t>角色，或</a:t>
            </a:r>
            <a:r>
              <a:rPr lang="en-US" altLang="zh-CN" sz="1700"/>
              <a:t>“</a:t>
            </a:r>
            <a:r>
              <a:rPr lang="zh-CN" altLang="en-US" sz="1700"/>
              <a:t>未知人员</a:t>
            </a:r>
            <a:r>
              <a:rPr lang="en-US" altLang="zh-CN" sz="1700"/>
              <a:t>’</a:t>
            </a:r>
            <a:endParaRPr lang="en-US" altLang="zh-CN" sz="1700"/>
          </a:p>
          <a:p>
            <a:r>
              <a:rPr lang="en-US" altLang="zh-CN" sz="1700"/>
              <a:t>-</a:t>
            </a:r>
            <a:r>
              <a:rPr lang="zh-CN" altLang="en-US" sz="1700"/>
              <a:t>交互过程</a:t>
            </a:r>
            <a:r>
              <a:rPr lang="en-US" altLang="zh-CN" sz="1700"/>
              <a:t>:</a:t>
            </a:r>
            <a:r>
              <a:rPr lang="zh-CN" altLang="en-US" sz="1700"/>
              <a:t>将识别结果实时反馈给主程序界面</a:t>
            </a:r>
            <a:r>
              <a:rPr lang="en-US" altLang="zh-CN" sz="1700"/>
              <a:t>(MainGU1.py)</a:t>
            </a:r>
            <a:r>
              <a:rPr lang="zh-CN" altLang="en-US" sz="1700"/>
              <a:t>进行显示并根据识别出的角色权限启用相应的系统功能。</a:t>
            </a:r>
            <a:endParaRPr lang="zh-CN" altLang="en-US" sz="17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505" y="8255"/>
            <a:ext cx="6500495" cy="164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05" y="741680"/>
            <a:ext cx="5071110" cy="982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81295" y="1724660"/>
            <a:ext cx="6096000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核心功能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/>
              <a:t>- </a:t>
            </a:r>
            <a:r>
              <a:rPr lang="en-US" altLang="zh-CN" sz="1700"/>
              <a:t>(</a:t>
            </a:r>
            <a:r>
              <a:rPr lang="zh-CN" altLang="en-US" sz="1700"/>
              <a:t>可选</a:t>
            </a:r>
            <a:r>
              <a:rPr lang="en-US" altLang="zh-CN" sz="1700"/>
              <a:t>)</a:t>
            </a:r>
            <a:r>
              <a:rPr lang="zh-CN" altLang="en-US" sz="1700"/>
              <a:t>提供一个更智能的疲劳检测模型，替代或增强基于规则的逻辑判断。</a:t>
            </a:r>
            <a:endParaRPr lang="zh-CN" altLang="en-US" sz="1700"/>
          </a:p>
        </p:txBody>
      </p:sp>
      <p:sp>
        <p:nvSpPr>
          <p:cNvPr id="5" name="文本框 4"/>
          <p:cNvSpPr txBox="1"/>
          <p:nvPr/>
        </p:nvSpPr>
        <p:spPr>
          <a:xfrm>
            <a:off x="5281295" y="2712085"/>
            <a:ext cx="6096000" cy="906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算法模型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/>
              <a:t>  </a:t>
            </a:r>
            <a:r>
              <a:rPr lang="zh-CN" altLang="en-US" sz="1700"/>
              <a:t>使用</a:t>
            </a:r>
            <a:r>
              <a:rPr lang="en-US" altLang="zh-CN" sz="1700"/>
              <a:t> XGBoost </a:t>
            </a:r>
            <a:r>
              <a:rPr lang="zh-CN" altLang="en-US" sz="1700"/>
              <a:t>算法，该算法在处理结构化数据和分类任务方</a:t>
            </a:r>
            <a:r>
              <a:rPr lang="en-US" altLang="zh-CN" sz="1700"/>
              <a:t>  </a:t>
            </a:r>
            <a:r>
              <a:rPr lang="zh-CN" altLang="en-US" sz="1700"/>
              <a:t>面表现出色。</a:t>
            </a:r>
            <a:endParaRPr lang="zh-CN" altLang="en-US" sz="1700"/>
          </a:p>
        </p:txBody>
      </p:sp>
      <p:sp>
        <p:nvSpPr>
          <p:cNvPr id="6" name="文本框 5"/>
          <p:cNvSpPr txBox="1"/>
          <p:nvPr/>
        </p:nvSpPr>
        <p:spPr>
          <a:xfrm>
            <a:off x="5281295" y="3634740"/>
            <a:ext cx="6096000" cy="1953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核心流程</a:t>
            </a:r>
            <a:r>
              <a:rPr lang="en-US" altLang="zh-CN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altLang="zh-CN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/>
              <a:t>  1.</a:t>
            </a:r>
            <a:r>
              <a:rPr lang="zh-CN" altLang="en-US" sz="1700"/>
              <a:t>训练</a:t>
            </a:r>
            <a:r>
              <a:rPr lang="en-US" altLang="zh-CN" sz="1700"/>
              <a:t>(Training):</a:t>
            </a:r>
            <a:r>
              <a:rPr lang="zh-CN" altLang="en-US" sz="1700"/>
              <a:t>使用</a:t>
            </a:r>
            <a:r>
              <a:rPr lang="en-US" altLang="zh-CN" sz="1700"/>
              <a:t>`Data_recorder.py`</a:t>
            </a:r>
            <a:r>
              <a:rPr lang="zh-CN" altLang="en-US" sz="1700"/>
              <a:t>生成的</a:t>
            </a:r>
            <a:r>
              <a:rPr lang="en-US" altLang="zh-CN" sz="1700"/>
              <a:t> CSV</a:t>
            </a:r>
            <a:r>
              <a:rPr lang="zh-CN" altLang="en-US" sz="1700"/>
              <a:t>日志文件作为训练数据集，学习特证与疲劳态之间的复</a:t>
            </a:r>
            <a:r>
              <a:rPr lang="zh-CN" altLang="en-US" sz="1700"/>
              <a:t>杂关系，并保存训练好的型。</a:t>
            </a:r>
            <a:endParaRPr lang="zh-CN" altLang="en-US" sz="1700"/>
          </a:p>
          <a:p>
            <a:r>
              <a:rPr lang="en-US" altLang="zh-CN" sz="1700"/>
              <a:t>  2.</a:t>
            </a:r>
            <a:r>
              <a:rPr lang="zh-CN" altLang="en-US" sz="1700"/>
              <a:t>预测</a:t>
            </a:r>
            <a:r>
              <a:rPr lang="en-US" altLang="zh-CN" sz="1700"/>
              <a:t>(Inference):</a:t>
            </a:r>
            <a:r>
              <a:rPr lang="zh-CN" altLang="en-US" sz="1700"/>
              <a:t>在实时监控中加载已训练的型，对</a:t>
            </a:r>
            <a:r>
              <a:rPr lang="en-US" altLang="zh-CN" sz="1700"/>
              <a:t>Data_collection.py`</a:t>
            </a:r>
            <a:r>
              <a:rPr lang="zh-CN" altLang="en-US" sz="1700"/>
              <a:t>提供的实时特征数据进行预测，输出疲劳状态的概率</a:t>
            </a:r>
            <a:endParaRPr lang="zh-CN" altLang="en-US" sz="1700"/>
          </a:p>
        </p:txBody>
      </p:sp>
      <p:sp>
        <p:nvSpPr>
          <p:cNvPr id="7" name="文本框 6"/>
          <p:cNvSpPr txBox="1"/>
          <p:nvPr/>
        </p:nvSpPr>
        <p:spPr>
          <a:xfrm>
            <a:off x="5318125" y="5639435"/>
            <a:ext cx="6096000" cy="906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5">
                    <a:lumMod val="50000"/>
                  </a:schemeClr>
                </a:solidFill>
              </a:rPr>
              <a:t>处理数据：</a:t>
            </a:r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sz="1700"/>
              <a:t>  </a:t>
            </a:r>
            <a:r>
              <a:rPr lang="zh-CN" altLang="en-US" sz="1700"/>
              <a:t>输入</a:t>
            </a:r>
            <a:r>
              <a:rPr lang="en-US" altLang="zh-CN" sz="1700"/>
              <a:t>:CSV</a:t>
            </a:r>
            <a:r>
              <a:rPr lang="zh-CN" altLang="en-US" sz="1700"/>
              <a:t>日志文件</a:t>
            </a:r>
            <a:r>
              <a:rPr lang="en-US" altLang="zh-CN" sz="1700"/>
              <a:t>(</a:t>
            </a:r>
            <a:r>
              <a:rPr lang="zh-CN" altLang="en-US" sz="1700"/>
              <a:t>用于训练</a:t>
            </a:r>
            <a:r>
              <a:rPr lang="en-US" altLang="zh-CN" sz="1700"/>
              <a:t>)</a:t>
            </a:r>
            <a:r>
              <a:rPr lang="zh-CN" altLang="en-US" sz="1700"/>
              <a:t>，实时特征数据</a:t>
            </a:r>
            <a:r>
              <a:rPr lang="en-US" altLang="zh-CN" sz="1700"/>
              <a:t>(</a:t>
            </a:r>
            <a:r>
              <a:rPr lang="zh-CN" altLang="en-US" sz="1700"/>
              <a:t>用于预测</a:t>
            </a:r>
            <a:r>
              <a:rPr lang="en-US" altLang="zh-CN" sz="1700"/>
              <a:t>)</a:t>
            </a:r>
            <a:r>
              <a:rPr lang="zh-CN" altLang="en-US" sz="1700"/>
              <a:t>输出</a:t>
            </a:r>
            <a:r>
              <a:rPr lang="en-US" altLang="zh-CN" sz="1700"/>
              <a:t>:</a:t>
            </a:r>
            <a:r>
              <a:rPr lang="zh-CN" altLang="en-US" sz="1700"/>
              <a:t>疲劳状态的预测结果或概率。</a:t>
            </a:r>
            <a:endParaRPr lang="zh-CN" altLang="en-US" sz="17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1504315"/>
            <a:ext cx="4247515" cy="420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Gemini_Generated_Image_2oiez2oiez2oiez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530" y="774700"/>
            <a:ext cx="6123305" cy="57638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pic>
        <p:nvPicPr>
          <p:cNvPr id="10" name="图片 9" descr="Gemini_Generated_Image_no6uesno6uesno6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5" y="3759835"/>
            <a:ext cx="5603240" cy="26085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" y="203835"/>
            <a:ext cx="4542790" cy="3489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063" y="132681"/>
            <a:ext cx="1763944" cy="558582"/>
          </a:xfrm>
          <a:prstGeom prst="rect">
            <a:avLst/>
          </a:prstGeom>
        </p:spPr>
      </p:pic>
      <p:pic>
        <p:nvPicPr>
          <p:cNvPr id="3" name="图片 2" descr="Gemini_Generated_Image_d4yu53d4yu53d4y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03300"/>
            <a:ext cx="11315065" cy="4945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WPS 演示</Application>
  <PresentationFormat>宽屏</PresentationFormat>
  <Paragraphs>121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Century Gothic</vt:lpstr>
      <vt:lpstr>微软雅黑</vt:lpstr>
      <vt:lpstr>Arial Unicode MS</vt:lpstr>
      <vt:lpstr>Calibri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zhite</dc:creator>
  <dc:description>1</dc:description>
  <dc:subject>1</dc:subject>
  <cp:lastModifiedBy>51623</cp:lastModifiedBy>
  <cp:revision>12</cp:revision>
  <dcterms:created xsi:type="dcterms:W3CDTF">2015-04-07T16:28:00Z</dcterms:created>
  <dcterms:modified xsi:type="dcterms:W3CDTF">2025-12-05T11:56:36Z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68ADE9D310424D7E9CB966AD5D021D25_13</vt:lpwstr>
  </property>
</Properties>
</file>